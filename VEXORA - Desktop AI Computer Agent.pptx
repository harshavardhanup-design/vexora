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</ns0:sldIdLst>
  <ns0:sldSz cx="12192000" cy="6858000" type="screen4x3"/>
  <ns0:notesSz cx="6858000" cy="9144000"/>
  <ns0:embeddedFontLst>
    <ns0:embeddedFont>
      <ns0:font typeface="Space Grotesk"/>
      <ns0:bold ns1:id="rIdFont28"/>
    </ns0:embeddedFont>
    <ns0:embeddedFont>
      <ns0:font typeface="Inter"/>
      <ns0:bold ns1:id="rIdFont29"/>
      <ns0:regular ns1:id="rIdFont3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Font28" Type="http://schemas.openxmlformats.org/officeDocument/2006/relationships/font" Target="fonts/45eeb106-ff90-4b1b-9c50-ddc4ebd36384.fntdata" /><ns0:Relationship Id="rIdFont29" Type="http://schemas.openxmlformats.org/officeDocument/2006/relationships/font" Target="fonts/b642c48c-8cac-4202-8389-e55cf2b075db.fntdata" /><ns0:Relationship Id="rIdFont30" Type="http://schemas.openxmlformats.org/officeDocument/2006/relationships/font" Target="fonts/08fcf3a6-9ffc-445f-864b-2adc8fd0f82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image" Target="../media/image4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710112"/>
            <a:ext cx="64389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786187"/>
            <a:ext cx="1000125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00275" y="3786187"/>
            <a:ext cx="1171575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0000" y="3786187"/>
            <a:ext cx="990600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4710112"/>
            <a:ext cx="64389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25" y="3943350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0" y="3943350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3933825"/>
            <a:ext cx="1905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0300" y="3933825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0025" y="3933825"/>
            <a:ext cx="15240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2195512"/>
            <a:ext cx="3850481" cy="800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b="1" sz="6300" i="0" u="none">
                <a:solidFill>
                  <a:srgbClr val="FFFFFF"/>
                </a:solidFill>
                <a:latin typeface="Space Grotesk"/>
              </a:rPr>
              <a:t>VEXORA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186112"/>
            <a:ext cx="465534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94A3B8"/>
                </a:solidFill>
                <a:latin typeface="Inter"/>
              </a:rPr>
              <a:t>Your AI for the entire computer.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1766887"/>
            <a:ext cx="3548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A3E635"/>
                </a:solidFill>
                <a:latin typeface="Space Grotesk"/>
              </a:rPr>
              <a:t>ENGINEERING INNOVATION PITCH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910137"/>
            <a:ext cx="4036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BD5E1"/>
                </a:solidFill>
                <a:latin typeface="Inter"/>
              </a:rPr>
              <a:t>Target Platform: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Snapdragon-powered HP PCs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3875" y="4910137"/>
            <a:ext cx="35837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BD5E1"/>
                </a:solidFill>
                <a:latin typeface="Inter"/>
              </a:rPr>
              <a:t>Category: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Autonomous Desktop OS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6825" y="3910012"/>
            <a:ext cx="5810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Space Grotesk"/>
              </a:rPr>
              <a:t>SEE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6050" y="3910012"/>
            <a:ext cx="7715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Space Grotesk"/>
              </a:rPr>
              <a:t>THINK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6725" y="3910012"/>
            <a:ext cx="6096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Space Grotesk"/>
              </a:rPr>
              <a:t>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21483"/>
            <a:ext cx="3505200" cy="2148482"/>
          </a:xfrm>
          <a:prstGeom prst="roundRect">
            <a:avLst>
              <a:gd name="adj" fmla="val 53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21483"/>
            <a:ext cx="3505200" cy="2148482"/>
          </a:xfrm>
          <a:prstGeom prst="roundRect">
            <a:avLst>
              <a:gd name="adj" fmla="val 53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21483"/>
            <a:ext cx="3505200" cy="2148482"/>
          </a:xfrm>
          <a:prstGeom prst="roundRect">
            <a:avLst>
              <a:gd name="adj" fmla="val 53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97708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097708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097708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202483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587" y="3202483"/>
            <a:ext cx="219075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3202483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SYSTEMIC FRICTION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The Traditional AI Isolation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631108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Sandboxed to Browser Tabs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974008"/>
            <a:ext cx="30480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LLMs operate strictly inside isolated chat windows without native desktop presence.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631108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Zero Runtime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974008"/>
            <a:ext cx="30480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Chatbots cannot inspect active windows, system hardware telemetry, or files.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631108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Execution Disconnect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974008"/>
            <a:ext cx="30480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Users must manually copy outputs, adjust settings, and launch tools themselves.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38462"/>
            <a:ext cx="4633466" cy="191452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6991" y="2938462"/>
            <a:ext cx="5415408" cy="1914525"/>
          </a:xfrm>
          <a:prstGeom prst="roundRect">
            <a:avLst>
              <a:gd name="adj" fmla="val 597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3252787"/>
            <a:ext cx="1609725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71791" y="3243262"/>
            <a:ext cx="1504950" cy="257175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966" y="3762375"/>
            <a:ext cx="238125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PARADIGM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AI Integrated Across the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643312"/>
            <a:ext cx="525632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Static Question &amp;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024312"/>
            <a:ext cx="4100066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Reactive conversational responses confined inside an isolated web browser tab.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1791" y="3652837"/>
            <a:ext cx="572020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Space Grotesk"/>
              </a:rPr>
              <a:t>Native OS Autonomous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1791" y="4033837"/>
            <a:ext cx="4901058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Context-aware agent reasoning directly across screen, hardware telemetry, and system utilities.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3290887"/>
            <a:ext cx="15144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TRADITIONAL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7041" y="3281362"/>
            <a:ext cx="14097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A3E635"/>
                </a:solidFill>
                <a:latin typeface="Inter"/>
              </a:rPr>
              <a:t>VEXORA PARADIGM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52712"/>
            <a:ext cx="10972800" cy="12001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081462"/>
            <a:ext cx="3530649" cy="1057275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4081462"/>
            <a:ext cx="3530649" cy="1057275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4081462"/>
            <a:ext cx="3530649" cy="1057275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PRODUCT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What is VEXORA?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2928937"/>
            <a:ext cx="113061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A Desktop AI Computer Agent for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319462"/>
            <a:ext cx="113061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Engineered to bring AI from an isolated chat window directly into computer orchestration.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281487"/>
            <a:ext cx="410891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Context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557712"/>
            <a:ext cx="3225849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Captures real-time OS state, active windows, and telemetry.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0774" y="4281487"/>
            <a:ext cx="410891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Planning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0774" y="4557712"/>
            <a:ext cx="3225849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Transforms user commands into verifiable step-by-step execution.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1924" y="4281487"/>
            <a:ext cx="39400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Gated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1924" y="4557712"/>
            <a:ext cx="3225849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Dispatches allowlisted system tools under permission bounds.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52762"/>
            <a:ext cx="2600325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052762"/>
            <a:ext cx="2600325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052762"/>
            <a:ext cx="2600325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148012"/>
            <a:ext cx="2600325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90887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290887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3290887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3386137"/>
            <a:ext cx="25717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CORE PILLAR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SEE: Computer &amp; Screen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633787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Active Windows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929062"/>
            <a:ext cx="22193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Real-time tracking of focused applications and open processes.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633787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Screen Capture &amp; 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929062"/>
            <a:ext cx="22193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On-demand visual capture with optical character recognition.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633787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System Telemetry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929062"/>
            <a:ext cx="22193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Continuous monitoring of CPU, RAM, and storage utilization.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729037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Workspace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4024312"/>
            <a:ext cx="22193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Index of recently modified files and directory paths.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08139"/>
            <a:ext cx="3505200" cy="1375171"/>
          </a:xfrm>
          <a:prstGeom prst="roundRect">
            <a:avLst>
              <a:gd name="adj" fmla="val 83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08139"/>
            <a:ext cx="3505200" cy="1375171"/>
          </a:xfrm>
          <a:prstGeom prst="roundRect">
            <a:avLst>
              <a:gd name="adj" fmla="val 83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08139"/>
            <a:ext cx="3505200" cy="1375171"/>
          </a:xfrm>
          <a:prstGeom prst="roundRect">
            <a:avLst>
              <a:gd name="adj" fmla="val 83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CORE PILLAR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THINK: Intent Understanding &amp;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84364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Intent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27264"/>
            <a:ext cx="30480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Parses natural language requests into deterministic system goals.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84364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Structured Plan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27264"/>
            <a:ext cx="30480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Deconstructs complex intents into atomic sequential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84364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Tool Selection &amp; Failover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27264"/>
            <a:ext cx="30480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Matches steps to validated tools with automated error recovery.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31008"/>
            <a:ext cx="3505200" cy="2129432"/>
          </a:xfrm>
          <a:prstGeom prst="roundRect">
            <a:avLst>
              <a:gd name="adj" fmla="val 53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31008"/>
            <a:ext cx="3505200" cy="2129432"/>
          </a:xfrm>
          <a:prstGeom prst="roundRect">
            <a:avLst>
              <a:gd name="adj" fmla="val 53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50964"/>
            <a:ext cx="3505200" cy="1889521"/>
          </a:xfrm>
          <a:prstGeom prst="roundRect">
            <a:avLst>
              <a:gd name="adj" fmla="val 60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07233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107233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27189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" y="3202483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3202483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4387" y="3322439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CORE PILLAR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ACT: Controlled Computer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64063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Approved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964483"/>
            <a:ext cx="30480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Opens allowlisted applications, common folders, and settings directly.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640633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Confirmation Gating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964483"/>
            <a:ext cx="30480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Protected operations require explicit human confirmation prompts.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760589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Restricted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084439"/>
            <a:ext cx="30480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Zero arbitrary terminal shell execution permitted by default.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36689"/>
            <a:ext cx="3505200" cy="1718071"/>
          </a:xfrm>
          <a:prstGeom prst="roundRect">
            <a:avLst>
              <a:gd name="adj" fmla="val 66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16733"/>
            <a:ext cx="3505200" cy="1957982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36689"/>
            <a:ext cx="3505200" cy="1718071"/>
          </a:xfrm>
          <a:prstGeom prst="roundRect">
            <a:avLst>
              <a:gd name="adj" fmla="val 66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12914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192958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312914"/>
            <a:ext cx="2000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CONTINUITY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LEARN: Memory &amp; Workspace Continuity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74864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Action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998714"/>
            <a:ext cx="30480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Persists recent user workflows for cross-session task resumption.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554908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User Preferences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878758"/>
            <a:ext cx="30480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Maintains personalized tooling configurations and interaction styles.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674864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User-Controlled Reset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998714"/>
            <a:ext cx="30480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One-click purge mechanisms for local workspace memory logs.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76575"/>
            <a:ext cx="2600325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076575"/>
            <a:ext cx="2600325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076575"/>
            <a:ext cx="2600325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076575"/>
            <a:ext cx="2600325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MODEL AGNOSTICISM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Multi-Backend AI Abstraction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305175"/>
            <a:ext cx="2238375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TIER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9025" y="3305175"/>
            <a:ext cx="2238375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TIER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3305175"/>
            <a:ext cx="2238375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TIER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0675" y="3305175"/>
            <a:ext cx="2238375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TIER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581400"/>
            <a:ext cx="278784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Offline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905250"/>
            <a:ext cx="22193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Rule-based heuristics for basic OS tasks when fully disconnected.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581400"/>
            <a:ext cx="278784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Ollama Local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905250"/>
            <a:ext cx="22193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Private on-device inference utilizing open-source model weights.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581400"/>
            <a:ext cx="278784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Google Gemini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905250"/>
            <a:ext cx="22193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High-speed multimodal reasoning with extensive context window.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581400"/>
            <a:ext cx="278784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OpenAI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3905250"/>
            <a:ext cx="22193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Advanced generalized reasoning engine for complex instructions.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84289"/>
            <a:ext cx="5334000" cy="2022871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14650"/>
            <a:ext cx="5334000" cy="196215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5825" y="4211835"/>
            <a:ext cx="4781550" cy="419100"/>
          </a:xfrm>
          <a:prstGeom prst="roundRect">
            <a:avLst>
              <a:gd name="adj" fmla="val 1818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DYNAMIC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Real Model Routing vs Cosmetic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160514"/>
            <a:ext cx="627578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True Dispatch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579614"/>
            <a:ext cx="4876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The model selector routes prompts to the actual selected backend engine, never just swapping a label.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4326135"/>
            <a:ext cx="457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Inter"/>
              </a:rPr>
              <a:t>Router.dispatch(prompt, active_provider.endpoint)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190875"/>
            <a:ext cx="56673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Variable Model Characteristics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609975"/>
            <a:ext cx="5667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Reasoning: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Unique logic depth across small and frontier models.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914775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Latency: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Local models eliminate external cloud network roundtrips.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4410075"/>
            <a:ext cx="5667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Availability: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Offline fallback preserves basic tool dispatch.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862262"/>
            <a:ext cx="11125200" cy="1247775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300537"/>
            <a:ext cx="11125200" cy="495300"/>
          </a:xfrm>
          <a:prstGeom prst="roundRect">
            <a:avLst>
              <a:gd name="adj" fmla="val 15384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4300537"/>
            <a:ext cx="38100" cy="495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393" y="3419475"/>
            <a:ext cx="85725" cy="133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555" y="3419475"/>
            <a:ext cx="85725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716" y="3419475"/>
            <a:ext cx="85725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878" y="3419475"/>
            <a:ext cx="85725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665" y="3419475"/>
            <a:ext cx="85725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4826" y="3419475"/>
            <a:ext cx="85725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3988" y="3419475"/>
            <a:ext cx="85725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" y="3138487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0236" y="3138487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9398" y="3138487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560" y="3138487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1534" y="3138487"/>
            <a:ext cx="45720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4508" y="3138487"/>
            <a:ext cx="45720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3670" y="3138487"/>
            <a:ext cx="457200" cy="457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52832" y="3138487"/>
            <a:ext cx="457200" cy="4572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3475" y="3281362"/>
            <a:ext cx="152400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13111" y="3281362"/>
            <a:ext cx="171450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02273" y="3281362"/>
            <a:ext cx="17145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91435" y="3281362"/>
            <a:ext cx="17145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04409" y="3281362"/>
            <a:ext cx="171450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17383" y="3281362"/>
            <a:ext cx="171450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16070" y="3281362"/>
            <a:ext cx="152400" cy="1714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95707" y="3281362"/>
            <a:ext cx="171450" cy="171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EXECUTION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647700"/>
            <a:ext cx="116586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End-to-End System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4452937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Architectural Invariant: Strict decoupling between AI reasoning and operating system execution.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671887"/>
            <a:ext cx="5905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36886" y="3671887"/>
            <a:ext cx="7239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Router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59373" y="3671887"/>
            <a:ext cx="857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AI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1410" y="3671887"/>
            <a:ext cx="571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5784" y="3671887"/>
            <a:ext cx="10287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D97706"/>
                </a:solidFill>
                <a:latin typeface="Inter"/>
              </a:rPr>
              <a:t>Permission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79258" y="3671887"/>
            <a:ext cx="6477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082" y="3671887"/>
            <a:ext cx="7143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43294" y="3671887"/>
            <a:ext cx="6762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6A34A"/>
                </a:solidFill>
                <a:latin typeface="Inter"/>
              </a:rPr>
              <a:t>Verify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62287"/>
            <a:ext cx="2600325" cy="1666875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062287"/>
            <a:ext cx="2600325" cy="1666875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062287"/>
            <a:ext cx="2600325" cy="1666875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062287"/>
            <a:ext cx="2600325" cy="1666875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300412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300412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3300412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3300412"/>
            <a:ext cx="2857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TRUST BOUNDARIES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Safety, Permissions &amp; Local Privacy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64331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Allowlisted Registry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919537"/>
            <a:ext cx="22193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Hardcoded registry restricts agent actions strictly to approved paths.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64331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Permission Gates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919537"/>
            <a:ext cx="22193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Elevated file adjustments and system actions require human sign-off.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64331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No Arbitrary Shell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919537"/>
            <a:ext cx="22193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No unvalidated command line or arbitrary script execution permitted.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64331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Auditing &amp;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3919537"/>
            <a:ext cx="22193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Transparent execution audit logs with user-controlled OCR toggles.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81300"/>
            <a:ext cx="355595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17950" y="2781300"/>
            <a:ext cx="355595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2781300"/>
            <a:ext cx="355595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971925"/>
            <a:ext cx="355595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17950" y="3971925"/>
            <a:ext cx="355595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26300" y="3971925"/>
            <a:ext cx="355595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APPLICATION LAYOUT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Clean Desktop Dashboard Sections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981325"/>
            <a:ext cx="414211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257550"/>
            <a:ext cx="3251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Real-time desktop telemetry and status summary.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975" y="2981325"/>
            <a:ext cx="414211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Ask VEXORA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975" y="3257550"/>
            <a:ext cx="3251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Central command prompt with quick action triggers.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6325" y="2981325"/>
            <a:ext cx="396567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My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6325" y="3257550"/>
            <a:ext cx="3251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Workspace memory and cross-session active tasks.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4171950"/>
            <a:ext cx="414211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Productivity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4448175"/>
            <a:ext cx="3251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Automated workflow routines and workday setups.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975" y="4171950"/>
            <a:ext cx="414211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System Specifications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975" y="4448175"/>
            <a:ext cx="3251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Hardware, CPU, memory, and storage reporting.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6325" y="4171950"/>
            <a:ext cx="396567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Settings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6325" y="4448175"/>
            <a:ext cx="3251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Model routing, privacy toggles, and OS shortcuts.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2750"/>
            <a:ext cx="355595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17950" y="2952750"/>
            <a:ext cx="355595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2952750"/>
            <a:ext cx="355595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619500"/>
            <a:ext cx="355595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17950" y="3619500"/>
            <a:ext cx="355595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26300" y="3619500"/>
            <a:ext cx="355595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4286250"/>
            <a:ext cx="355595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17950" y="4286250"/>
            <a:ext cx="355595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26300" y="4286250"/>
            <a:ext cx="355595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3124200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975" y="3124200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6325" y="3124200"/>
            <a:ext cx="17145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790950"/>
            <a:ext cx="17145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975" y="3790950"/>
            <a:ext cx="15240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6325" y="3790950"/>
            <a:ext cx="1714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4457700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7975" y="4457700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6325" y="4457700"/>
            <a:ext cx="1714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INSTANT ORCHESTRATION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477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Ask VEXORA Quick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375" y="3114675"/>
            <a:ext cx="10096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PC 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3725" y="3114675"/>
            <a:ext cx="12096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Recent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2075" y="3114675"/>
            <a:ext cx="13239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Running Apps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375" y="3781425"/>
            <a:ext cx="14192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Capture Screen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4675" y="3781425"/>
            <a:ext cx="1190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Read Screen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12075" y="3781425"/>
            <a:ext cx="10858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Agent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375" y="4448175"/>
            <a:ext cx="13144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System Specs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3725" y="4448175"/>
            <a:ext cx="14001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Workday Setup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12075" y="4448175"/>
            <a:ext cx="1333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What I Can Do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76575"/>
            <a:ext cx="3505200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76575"/>
            <a:ext cx="3505200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76575"/>
            <a:ext cx="3505200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GRANULAR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Modular Configuration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352800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Provider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14750"/>
            <a:ext cx="3690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 Ollama local host 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981450"/>
            <a:ext cx="3690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 Gemini &amp; OpenAI API secrets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248150"/>
            <a:ext cx="3690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 Fast reply heuristics toggle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352800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Privacy &amp;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714750"/>
            <a:ext cx="3690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 Local-first execution switch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981450"/>
            <a:ext cx="3690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 Screen capture &amp; OCR toggles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4248150"/>
            <a:ext cx="3690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 Action confirmation barriers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352800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Workspace &amp;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714750"/>
            <a:ext cx="3690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 Focus mode and motion 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981450"/>
            <a:ext cx="3690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 Memory purge &amp; reset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248150"/>
            <a:ext cx="3690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 OS setting quick shortcuts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3237"/>
            <a:ext cx="2643187" cy="466725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86137" y="3043237"/>
            <a:ext cx="2643187" cy="466725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2675" y="3043237"/>
            <a:ext cx="2643187" cy="466725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39212" y="3043237"/>
            <a:ext cx="2643187" cy="466725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643312"/>
            <a:ext cx="2643187" cy="466725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6137" y="3643312"/>
            <a:ext cx="2643187" cy="466725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62675" y="3643312"/>
            <a:ext cx="2643187" cy="466725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39212" y="3643312"/>
            <a:ext cx="2643187" cy="466725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600" y="4243387"/>
            <a:ext cx="2643187" cy="466725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6137" y="4243387"/>
            <a:ext cx="2643187" cy="466725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62675" y="4243387"/>
            <a:ext cx="2643187" cy="466725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39212" y="4243387"/>
            <a:ext cx="2643187" cy="466725"/>
          </a:xfrm>
          <a:prstGeom prst="roundRect">
            <a:avLst>
              <a:gd name="adj" fmla="val 163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3200400"/>
            <a:ext cx="1714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112" y="3200400"/>
            <a:ext cx="1905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3200400"/>
            <a:ext cx="952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0187" y="3200400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3800475"/>
            <a:ext cx="1714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7112" y="3800475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3650" y="3800475"/>
            <a:ext cx="1905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0187" y="3800475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4400550"/>
            <a:ext cx="1905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67112" y="4400550"/>
            <a:ext cx="1524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3650" y="4400550"/>
            <a:ext cx="1905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20187" y="4400550"/>
            <a:ext cx="17145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NATIVE OS BRIDGING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477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Direct Windows Settings Shortcuts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7275" y="3186112"/>
            <a:ext cx="8001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Display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2862" y="3186112"/>
            <a:ext cx="1619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Network &amp; Internet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4150" y="3186112"/>
            <a:ext cx="9429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Bluetooth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67837" y="3186112"/>
            <a:ext cx="16073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Privacy &amp; 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7275" y="3786187"/>
            <a:ext cx="6381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Apps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4762" y="3786187"/>
            <a:ext cx="13525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Personalization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786187"/>
            <a:ext cx="9429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Accounts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67837" y="3786187"/>
            <a:ext cx="14644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Windows Update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6325" y="4386262"/>
            <a:ext cx="8191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Gaming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4762" y="4386262"/>
            <a:ext cx="8286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Storage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386262"/>
            <a:ext cx="7239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Sound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86887" y="4386262"/>
            <a:ext cx="14097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Power &amp; Battery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42782" y="2438400"/>
            <a:ext cx="5077717" cy="2781300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2495550"/>
            <a:ext cx="5704582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3429000"/>
            <a:ext cx="5704582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4362450"/>
            <a:ext cx="5704582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707" y="2600325"/>
            <a:ext cx="4753867" cy="2190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19100"/>
            <a:ext cx="11620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TARGET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647700"/>
            <a:ext cx="116205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Snapdragon-Powered HP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2094" y="4905375"/>
            <a:ext cx="4179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Target Architecture: Snapdragon X Series NPU Compute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2676525"/>
            <a:ext cx="701220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Dedicated NPU Acceleration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75" y="2933700"/>
            <a:ext cx="667829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Targeted for Qualcomm Neural Processing Engine via QNN &amp; ONNX Runtime.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75" y="3609975"/>
            <a:ext cx="701220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Qualcomm AI Hub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75" y="3867150"/>
            <a:ext cx="667829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Leveraging optimized open-source weights compiled for Snapdragon silicon.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4543425"/>
            <a:ext cx="701220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HP Device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" y="4800600"/>
            <a:ext cx="667829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Engineered as a lightweight, thermal-efficient assistant for HP laptops.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16733"/>
            <a:ext cx="3505200" cy="1957982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36689"/>
            <a:ext cx="3505200" cy="1718071"/>
          </a:xfrm>
          <a:prstGeom prst="roundRect">
            <a:avLst>
              <a:gd name="adj" fmla="val 66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16733"/>
            <a:ext cx="3505200" cy="1957982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92958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312914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192958"/>
            <a:ext cx="1714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ROBUSTNESS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Engineering Rigor &amp; Fault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554908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Modular Decoupling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878758"/>
            <a:ext cx="30480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Isolated modules for UI, context capture, model routing, and execution.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674864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Predictable 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998714"/>
            <a:ext cx="30480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Typed failure states and immediate fallback to offline heuristics.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554908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Action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878758"/>
            <a:ext cx="30480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Post-action validation ensures system state aligns with intended results.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490787"/>
            <a:ext cx="5457825" cy="2676525"/>
          </a:xfrm>
          <a:prstGeom prst="roundRect">
            <a:avLst>
              <a:gd name="adj" fmla="val 42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9825" y="2724150"/>
            <a:ext cx="5438775" cy="2209800"/>
          </a:xfrm>
          <a:prstGeom prst="roundRect">
            <a:avLst>
              <a:gd name="adj" fmla="val 517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48425" y="3324225"/>
            <a:ext cx="19050" cy="371475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48425" y="3829050"/>
            <a:ext cx="19050" cy="3714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48425" y="4333875"/>
            <a:ext cx="19050" cy="37147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REAL-WORLD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647700"/>
            <a:ext cx="116586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Target Use Cases &amp; Development Horizon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2728912"/>
            <a:ext cx="653831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Primary Stakeholders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8425" y="2952750"/>
            <a:ext cx="5743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Space Grotesk"/>
              </a:rPr>
              <a:t>Engineering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100387"/>
            <a:ext cx="50768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Students: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3586162"/>
            <a:ext cx="50768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Developers: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4071937"/>
            <a:ext cx="50768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Professionals: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4557712"/>
            <a:ext cx="50768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Everyday Users: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324225"/>
            <a:ext cx="49625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A3E635"/>
                </a:solidFill>
                <a:latin typeface="Inter"/>
              </a:rPr>
              <a:t>PHASE 1 (CURRENT)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3829050"/>
            <a:ext cx="49625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Inter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4333875"/>
            <a:ext cx="49625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Inter"/>
              </a:rP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3309937"/>
            <a:ext cx="6226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Study continuity and system assistance.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3795712"/>
            <a:ext cx="6226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Dev environment setup and telemetry checks.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4281487"/>
            <a:ext cx="6226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Workday routine setups and task context.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4767262"/>
            <a:ext cx="6226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Windows Settings navigation and PC health.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3533775"/>
            <a:ext cx="56102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1F5F9"/>
                </a:solidFill>
                <a:latin typeface="Inter"/>
              </a:rPr>
              <a:t>Core SEE-THINK-ACT framework &amp; multi-model router.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775" y="4038600"/>
            <a:ext cx="56102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1F5F9"/>
                </a:solidFill>
                <a:latin typeface="Inter"/>
              </a:rPr>
              <a:t>QNN / ONNX NPU acceleration on Snapdragon HP devices.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1775" y="4543425"/>
            <a:ext cx="56102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1F5F9"/>
                </a:solidFill>
                <a:latin typeface="Inter"/>
              </a:rPr>
              <a:t>Autonomous multi-step workspace routine compounding.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462462" y="2040284"/>
            <a:ext cx="3267075" cy="3048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10250" y="4789140"/>
            <a:ext cx="571500" cy="28575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7028" y="2573684"/>
            <a:ext cx="3537942" cy="723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700"/>
              </a:lnSpc>
            </a:pPr>
            <a:r>
              <a:rPr b="1" sz="5700" i="0" u="none">
                <a:solidFill>
                  <a:srgbClr val="FFFFFF"/>
                </a:solidFill>
                <a:latin typeface="Space Grotesk"/>
              </a:rPr>
              <a:t>VEXORA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9781" y="4088159"/>
            <a:ext cx="8072437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Inter"/>
              </a:rPr>
              <a:t>“Bringing AI from the chat window into the computer itself.”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0296" y="2106959"/>
            <a:ext cx="36314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A3E635"/>
                </a:solidFill>
                <a:latin typeface="Space Grotesk"/>
              </a:rPr>
              <a:t>THE FUTURE OF DESKTOP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0137" y="3488084"/>
            <a:ext cx="7429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A3E635"/>
                </a:solidFill>
                <a:latin typeface="Space Grotesk"/>
              </a:rPr>
              <a:t>SEE.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95937" y="3488084"/>
            <a:ext cx="9906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8BDF8"/>
                </a:solidFill>
                <a:latin typeface="Space Grotesk"/>
              </a:rPr>
              <a:t>THINK.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9387" y="3488084"/>
            <a:ext cx="7524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Space Grotesk"/>
              </a:rPr>
              <a:t>ACT.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3462"/>
            <a:ext cx="6072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https://s7d1.scene7.com/is/image/dmqualcommprod/SnapdragonXElite_HeroImage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3487"/>
            <a:ext cx="26550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www.qualcomm.com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